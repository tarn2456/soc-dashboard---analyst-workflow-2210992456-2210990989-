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2"/>
  </p:notesMasterIdLst>
  <p:handoutMasterIdLst>
    <p:handoutMasterId r:id="rId23"/>
  </p:handoutMasterIdLst>
  <p:sldIdLst>
    <p:sldId id="256" r:id="rId5"/>
    <p:sldId id="257" r:id="rId6"/>
    <p:sldId id="269" r:id="rId7"/>
    <p:sldId id="271"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68" r:id="rId21"/>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08" y="107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5/26/2026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5/26/2026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800" dirty="0">
                <a:latin typeface="Times New Roman" panose="02020603050405020304" pitchFamily="18" charset="0"/>
                <a:ea typeface="Calibri" panose="020F0502020204030204" pitchFamily="34" charset="0"/>
                <a:cs typeface="Times New Roman" panose="02020603050405020304" pitchFamily="18" charset="0"/>
              </a:rPr>
              <a:t>&lt;</a:t>
            </a:r>
            <a:r>
              <a:rPr lang="en-US" sz="3600" dirty="0">
                <a:latin typeface="Times New Roman" panose="02020603050405020304" pitchFamily="18" charset="0"/>
                <a:ea typeface="Calibri" panose="020F0502020204030204" pitchFamily="34" charset="0"/>
                <a:cs typeface="Times New Roman" panose="02020603050405020304" pitchFamily="18" charset="0"/>
              </a:rPr>
              <a:t>SOC Dashboard &amp; Analyst Workflow&gt;</a:t>
            </a:r>
            <a:endParaRPr lang="en-US" sz="36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Tarnveer Singh Mann (2210992456)</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Yuvraj Singh (2210990989)</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PK Khosla</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Sonam Mittal</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Dr</a:t>
            </a:r>
            <a:r>
              <a:rPr lang="en-US" sz="2000" spc="-1" dirty="0">
                <a:solidFill>
                  <a:srgbClr val="000000"/>
                </a:solidFill>
                <a:latin typeface="Times New Roman" panose="02020603050405020304" pitchFamily="18" charset="0"/>
                <a:ea typeface="MS PGothic"/>
                <a:cs typeface="Times New Roman" panose="02020603050405020304" pitchFamily="18" charset="0"/>
              </a:rPr>
              <a:t>. Simarjit Kaur</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210900" y="1009715"/>
            <a:ext cx="8838720" cy="2795120"/>
          </a:xfrm>
          <a:prstGeom prst="rect">
            <a:avLst/>
          </a:prstGeom>
          <a:noFill/>
          <a:ln w="9360">
            <a:noFill/>
          </a:ln>
        </p:spPr>
        <p:txBody>
          <a:bodyPr>
            <a:noAutofit/>
          </a:bodyPr>
          <a:lstStyle/>
          <a:p>
            <a:pPr>
              <a:lnSpc>
                <a:spcPct val="150000"/>
              </a:lnSpc>
              <a:spcBef>
                <a:spcPts val="400"/>
              </a:spcBef>
            </a:pPr>
            <a:r>
              <a:rPr lang="en-US" b="0" strike="noStrike" spc="-1" dirty="0">
                <a:solidFill>
                  <a:srgbClr val="000000"/>
                </a:solidFill>
                <a:latin typeface="Times New Roman" panose="02020603050405020304" pitchFamily="18" charset="0"/>
                <a:cs typeface="Times New Roman" panose="02020603050405020304" pitchFamily="18" charset="0"/>
              </a:rPr>
              <a:t>A Security Operations Center (SOC) is essential for monitoring, detecting, and responding to cyber threats in real time. This project presents a lightweight SOC Dashboard built using OpenSearch to centralize log monitoring, detect suspicious activities, and assist security analysts in incident investigation. The system integrates interactive dashboards, automated alert generation, and MITRE ATT&amp;CK-based threat mapping to improve visibility and security analysis. It also supports attack simulation and event correlation, providing a scalable and practical solution for cybersecurity monitoring and research.</a:t>
            </a:r>
          </a:p>
        </p:txBody>
      </p:sp>
      <p:sp>
        <p:nvSpPr>
          <p:cNvPr id="14" name="TextBox 13">
            <a:extLst>
              <a:ext uri="{FF2B5EF4-FFF2-40B4-BE49-F238E27FC236}">
                <a16:creationId xmlns:a16="http://schemas.microsoft.com/office/drawing/2014/main" id="{4E645013-0D12-BEE1-6A09-A81BBCA518F2}"/>
              </a:ext>
            </a:extLst>
          </p:cNvPr>
          <p:cNvSpPr txBox="1"/>
          <p:nvPr/>
        </p:nvSpPr>
        <p:spPr>
          <a:xfrm>
            <a:off x="210900" y="4208610"/>
            <a:ext cx="8475540" cy="313932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Key Points</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Centralized security log monitoring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Real-time threat detection and alerting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MITRE ATT&amp;CK framework integration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Interactive dashboards for SOC analysts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Attack simulation and investigation support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Lightweight and scalable architecture</a:t>
            </a:r>
          </a:p>
          <a:p>
            <a:endParaRPr lang="en-US" dirty="0"/>
          </a:p>
          <a:p>
            <a:endParaRPr lang="en-US"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A7CAD-FF13-14F1-141B-8F3B17F2A073}"/>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Objective</a:t>
            </a:r>
          </a:p>
        </p:txBody>
      </p:sp>
      <p:sp>
        <p:nvSpPr>
          <p:cNvPr id="3" name="Subtitle 2">
            <a:extLst>
              <a:ext uri="{FF2B5EF4-FFF2-40B4-BE49-F238E27FC236}">
                <a16:creationId xmlns:a16="http://schemas.microsoft.com/office/drawing/2014/main" id="{F739BD50-650C-6663-6761-3FD6A301BFF5}"/>
              </a:ext>
            </a:extLst>
          </p:cNvPr>
          <p:cNvSpPr>
            <a:spLocks noGrp="1"/>
          </p:cNvSpPr>
          <p:nvPr>
            <p:ph type="subTitle"/>
          </p:nvPr>
        </p:nvSpPr>
        <p:spPr>
          <a:xfrm>
            <a:off x="247972" y="1542081"/>
            <a:ext cx="8787540" cy="1886920"/>
          </a:xfrm>
        </p:spPr>
        <p:txBody>
          <a:bodyPr/>
          <a:lstStyle/>
          <a:p>
            <a:pPr marL="0" indent="0">
              <a:buNone/>
            </a:pPr>
            <a:r>
              <a:rPr lang="en-US" sz="1800" dirty="0">
                <a:latin typeface="Times New Roman" panose="02020603050405020304" pitchFamily="18" charset="0"/>
                <a:cs typeface="Times New Roman" panose="02020603050405020304" pitchFamily="18" charset="0"/>
              </a:rPr>
              <a:t>The main objective of this project is to design and develop a lightweight Security Operations Center (SOC) dashboard that enables centralized security monitoring, real-time threat detection, and efficient incident investigation. The system collects and processes security logs from multiple sources, analyzes suspicious activities using detection rules, and visualizes threats through interactive dashboards integrated with the MITRE ATT&amp;CK framework. The project aims to improve the ability of security analysts to detect, investigate, and respond to cyber threats quickly and effectively while providing a scalable and practical platform for cybersecurity monitoring and research.</a:t>
            </a: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747AD52-D0D7-2B7A-19F8-710510AF3A89}"/>
              </a:ext>
            </a:extLst>
          </p:cNvPr>
          <p:cNvSpPr txBox="1"/>
          <p:nvPr/>
        </p:nvSpPr>
        <p:spPr>
          <a:xfrm>
            <a:off x="178230" y="3292147"/>
            <a:ext cx="8787539" cy="369331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Key Objectives</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Centralize security log collection and monitoring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 suspicious and malicious activities in real time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 MITRE ATT&amp;CK framework for threat mapping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Generate automated alerts for detected threats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 interactive dashboards for SOC analysts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 attack simulation and incident investigation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 efficient event correlation and timeline analysis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Build a lightweight and scalable SOC solution using OpenSearch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 visibility into security events and attack patterns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 a practical platform for cybersecurity learning and research </a:t>
            </a:r>
          </a:p>
          <a:p>
            <a:endParaRPr lang="en-US" dirty="0"/>
          </a:p>
        </p:txBody>
      </p:sp>
    </p:spTree>
    <p:extLst>
      <p:ext uri="{BB962C8B-B14F-4D97-AF65-F5344CB8AC3E}">
        <p14:creationId xmlns:p14="http://schemas.microsoft.com/office/powerpoint/2010/main" val="4150179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8473A-5836-A799-9C94-8DEB816E9E39}"/>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System Architecture</a:t>
            </a:r>
          </a:p>
        </p:txBody>
      </p:sp>
      <p:pic>
        <p:nvPicPr>
          <p:cNvPr id="5" name="Picture 4">
            <a:extLst>
              <a:ext uri="{FF2B5EF4-FFF2-40B4-BE49-F238E27FC236}">
                <a16:creationId xmlns:a16="http://schemas.microsoft.com/office/drawing/2014/main" id="{8B5F0467-E714-ABDA-29F5-E8EF45224C1A}"/>
              </a:ext>
            </a:extLst>
          </p:cNvPr>
          <p:cNvPicPr>
            <a:picLocks noChangeAspect="1"/>
          </p:cNvPicPr>
          <p:nvPr/>
        </p:nvPicPr>
        <p:blipFill>
          <a:blip r:embed="rId2"/>
          <a:stretch>
            <a:fillRect/>
          </a:stretch>
        </p:blipFill>
        <p:spPr>
          <a:xfrm>
            <a:off x="0" y="914040"/>
            <a:ext cx="9144000" cy="5779368"/>
          </a:xfrm>
          <a:prstGeom prst="rect">
            <a:avLst/>
          </a:prstGeom>
        </p:spPr>
      </p:pic>
    </p:spTree>
    <p:extLst>
      <p:ext uri="{BB962C8B-B14F-4D97-AF65-F5344CB8AC3E}">
        <p14:creationId xmlns:p14="http://schemas.microsoft.com/office/powerpoint/2010/main" val="3605541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83AC6-8478-D1DA-389B-8D9F976BBC45}"/>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Methodology</a:t>
            </a:r>
          </a:p>
        </p:txBody>
      </p:sp>
      <p:sp>
        <p:nvSpPr>
          <p:cNvPr id="3" name="Subtitle 2">
            <a:extLst>
              <a:ext uri="{FF2B5EF4-FFF2-40B4-BE49-F238E27FC236}">
                <a16:creationId xmlns:a16="http://schemas.microsoft.com/office/drawing/2014/main" id="{E7A70F28-FEF5-0331-5FB1-C0CBF56F32E7}"/>
              </a:ext>
            </a:extLst>
          </p:cNvPr>
          <p:cNvSpPr>
            <a:spLocks noGrp="1"/>
          </p:cNvSpPr>
          <p:nvPr>
            <p:ph type="subTitle"/>
          </p:nvPr>
        </p:nvSpPr>
        <p:spPr>
          <a:xfrm>
            <a:off x="457380" y="1731264"/>
            <a:ext cx="8229240" cy="4277256"/>
          </a:xfrm>
        </p:spPr>
        <p:txBody>
          <a:bodyPr/>
          <a:lstStyle/>
          <a:p>
            <a:pPr marL="0" indent="0">
              <a:buNone/>
            </a:pPr>
            <a:r>
              <a:rPr lang="en-US" sz="1800" b="1" dirty="0">
                <a:latin typeface="Times New Roman" panose="02020603050405020304" pitchFamily="18" charset="0"/>
                <a:cs typeface="Times New Roman" panose="02020603050405020304" pitchFamily="18" charset="0"/>
              </a:rPr>
              <a:t>1. Requirement Analysis</a:t>
            </a:r>
          </a:p>
          <a:p>
            <a:r>
              <a:rPr lang="en-US" sz="1800" dirty="0">
                <a:latin typeface="Times New Roman" panose="02020603050405020304" pitchFamily="18" charset="0"/>
                <a:cs typeface="Times New Roman" panose="02020603050405020304" pitchFamily="18" charset="0"/>
              </a:rPr>
              <a:t>Identified the need for centralized security monitoring and threat detection. </a:t>
            </a:r>
          </a:p>
          <a:p>
            <a:r>
              <a:rPr lang="en-US" sz="1800" dirty="0">
                <a:latin typeface="Times New Roman" panose="02020603050405020304" pitchFamily="18" charset="0"/>
                <a:cs typeface="Times New Roman" panose="02020603050405020304" pitchFamily="18" charset="0"/>
              </a:rPr>
              <a:t>Studied SOC workflows, SIEM concepts, and MITRE ATT&amp;CK techniques. </a:t>
            </a:r>
          </a:p>
          <a:p>
            <a:r>
              <a:rPr lang="en-US" sz="1800" dirty="0">
                <a:latin typeface="Times New Roman" panose="02020603050405020304" pitchFamily="18" charset="0"/>
                <a:cs typeface="Times New Roman" panose="02020603050405020304" pitchFamily="18" charset="0"/>
              </a:rPr>
              <a:t>Defined system objectives such as log collection, detection, visualization, and alerting. </a:t>
            </a:r>
          </a:p>
          <a:p>
            <a:pPr marL="0" indent="0">
              <a:buNone/>
            </a:pP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2. System Design</a:t>
            </a:r>
          </a:p>
          <a:p>
            <a:r>
              <a:rPr lang="en-US" sz="1800" dirty="0">
                <a:latin typeface="Times New Roman" panose="02020603050405020304" pitchFamily="18" charset="0"/>
                <a:cs typeface="Times New Roman" panose="02020603050405020304" pitchFamily="18" charset="0"/>
              </a:rPr>
              <a:t>Designed the architecture of the SOC Dashboard system. </a:t>
            </a:r>
          </a:p>
          <a:p>
            <a:r>
              <a:rPr lang="en-US" sz="1800" dirty="0">
                <a:latin typeface="Times New Roman" panose="02020603050405020304" pitchFamily="18" charset="0"/>
                <a:cs typeface="Times New Roman" panose="02020603050405020304" pitchFamily="18" charset="0"/>
              </a:rPr>
              <a:t>Planned modules for: </a:t>
            </a:r>
          </a:p>
          <a:p>
            <a:pPr lvl="1"/>
            <a:r>
              <a:rPr lang="en-US" sz="1800" dirty="0">
                <a:latin typeface="Times New Roman" panose="02020603050405020304" pitchFamily="18" charset="0"/>
                <a:cs typeface="Times New Roman" panose="02020603050405020304" pitchFamily="18" charset="0"/>
              </a:rPr>
              <a:t>Log collection </a:t>
            </a:r>
          </a:p>
          <a:p>
            <a:pPr lvl="1"/>
            <a:r>
              <a:rPr lang="en-US" sz="1800" dirty="0">
                <a:latin typeface="Times New Roman" panose="02020603050405020304" pitchFamily="18" charset="0"/>
                <a:cs typeface="Times New Roman" panose="02020603050405020304" pitchFamily="18" charset="0"/>
              </a:rPr>
              <a:t>Data storage </a:t>
            </a:r>
          </a:p>
          <a:p>
            <a:pPr lvl="1"/>
            <a:r>
              <a:rPr lang="en-US" sz="1800" dirty="0">
                <a:latin typeface="Times New Roman" panose="02020603050405020304" pitchFamily="18" charset="0"/>
                <a:cs typeface="Times New Roman" panose="02020603050405020304" pitchFamily="18" charset="0"/>
              </a:rPr>
              <a:t>Threat detection </a:t>
            </a:r>
          </a:p>
          <a:p>
            <a:pPr lvl="1"/>
            <a:r>
              <a:rPr lang="en-US" sz="1800" dirty="0">
                <a:latin typeface="Times New Roman" panose="02020603050405020304" pitchFamily="18" charset="0"/>
                <a:cs typeface="Times New Roman" panose="02020603050405020304" pitchFamily="18" charset="0"/>
              </a:rPr>
              <a:t>Dashboard visualization </a:t>
            </a:r>
          </a:p>
          <a:p>
            <a:pPr lvl="1"/>
            <a:r>
              <a:rPr lang="en-US" sz="1800" dirty="0">
                <a:latin typeface="Times New Roman" panose="02020603050405020304" pitchFamily="18" charset="0"/>
                <a:cs typeface="Times New Roman" panose="02020603050405020304" pitchFamily="18" charset="0"/>
              </a:rPr>
              <a:t>Alert notification </a:t>
            </a:r>
          </a:p>
          <a:p>
            <a:r>
              <a:rPr lang="en-US" sz="1800" dirty="0">
                <a:latin typeface="Times New Roman" panose="02020603050405020304" pitchFamily="18" charset="0"/>
                <a:cs typeface="Times New Roman" panose="02020603050405020304" pitchFamily="18" charset="0"/>
              </a:rPr>
              <a:t>Selected OpenSearch as the core analytics and visualization platform. </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5373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26B10-5165-CE67-CD1A-0432520212A2}"/>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Methodology</a:t>
            </a:r>
          </a:p>
        </p:txBody>
      </p:sp>
      <p:sp>
        <p:nvSpPr>
          <p:cNvPr id="3" name="Subtitle 2">
            <a:extLst>
              <a:ext uri="{FF2B5EF4-FFF2-40B4-BE49-F238E27FC236}">
                <a16:creationId xmlns:a16="http://schemas.microsoft.com/office/drawing/2014/main" id="{F5E4CE36-2AA5-4346-CD06-9D06B53629CA}"/>
              </a:ext>
            </a:extLst>
          </p:cNvPr>
          <p:cNvSpPr>
            <a:spLocks noGrp="1"/>
          </p:cNvSpPr>
          <p:nvPr>
            <p:ph type="subTitle"/>
          </p:nvPr>
        </p:nvSpPr>
        <p:spPr>
          <a:xfrm>
            <a:off x="457200" y="1304544"/>
            <a:ext cx="8229240" cy="4828032"/>
          </a:xfrm>
        </p:spPr>
        <p:txBody>
          <a:bodyPr/>
          <a:lstStyle/>
          <a:p>
            <a:pPr marL="0" indent="0">
              <a:buNone/>
            </a:pPr>
            <a:r>
              <a:rPr lang="en-IN" sz="1800" b="1" dirty="0">
                <a:latin typeface="Times New Roman" panose="02020603050405020304" pitchFamily="18" charset="0"/>
                <a:cs typeface="Times New Roman" panose="02020603050405020304" pitchFamily="18" charset="0"/>
              </a:rPr>
              <a:t>3. Log Generation &amp; Collection</a:t>
            </a:r>
          </a:p>
          <a:p>
            <a:r>
              <a:rPr lang="en-IN" sz="1800" dirty="0">
                <a:latin typeface="Times New Roman" panose="02020603050405020304" pitchFamily="18" charset="0"/>
                <a:cs typeface="Times New Roman" panose="02020603050405020304" pitchFamily="18" charset="0"/>
              </a:rPr>
              <a:t>Generated realistic security logs including: </a:t>
            </a:r>
          </a:p>
          <a:p>
            <a:pPr lvl="1"/>
            <a:r>
              <a:rPr lang="en-IN" sz="1800" dirty="0">
                <a:latin typeface="Times New Roman" panose="02020603050405020304" pitchFamily="18" charset="0"/>
                <a:cs typeface="Times New Roman" panose="02020603050405020304" pitchFamily="18" charset="0"/>
              </a:rPr>
              <a:t>Authentication logs </a:t>
            </a:r>
          </a:p>
          <a:p>
            <a:pPr lvl="1"/>
            <a:r>
              <a:rPr lang="en-IN" sz="1800" dirty="0">
                <a:latin typeface="Times New Roman" panose="02020603050405020304" pitchFamily="18" charset="0"/>
                <a:cs typeface="Times New Roman" panose="02020603050405020304" pitchFamily="18" charset="0"/>
              </a:rPr>
              <a:t>Firewall logs </a:t>
            </a:r>
          </a:p>
          <a:p>
            <a:pPr lvl="1"/>
            <a:r>
              <a:rPr lang="en-IN" sz="1800" dirty="0">
                <a:latin typeface="Times New Roman" panose="02020603050405020304" pitchFamily="18" charset="0"/>
                <a:cs typeface="Times New Roman" panose="02020603050405020304" pitchFamily="18" charset="0"/>
              </a:rPr>
              <a:t>Network logs </a:t>
            </a:r>
          </a:p>
          <a:p>
            <a:pPr lvl="1"/>
            <a:r>
              <a:rPr lang="en-IN" sz="1800" dirty="0">
                <a:latin typeface="Times New Roman" panose="02020603050405020304" pitchFamily="18" charset="0"/>
                <a:cs typeface="Times New Roman" panose="02020603050405020304" pitchFamily="18" charset="0"/>
              </a:rPr>
              <a:t>Web server logs </a:t>
            </a:r>
          </a:p>
          <a:p>
            <a:pPr lvl="1"/>
            <a:r>
              <a:rPr lang="en-IN" sz="1800" dirty="0">
                <a:latin typeface="Times New Roman" panose="02020603050405020304" pitchFamily="18" charset="0"/>
                <a:cs typeface="Times New Roman" panose="02020603050405020304" pitchFamily="18" charset="0"/>
              </a:rPr>
              <a:t>Application logs </a:t>
            </a:r>
          </a:p>
          <a:p>
            <a:r>
              <a:rPr lang="en-IN" sz="1800" dirty="0">
                <a:latin typeface="Times New Roman" panose="02020603050405020304" pitchFamily="18" charset="0"/>
                <a:cs typeface="Times New Roman" panose="02020603050405020304" pitchFamily="18" charset="0"/>
              </a:rPr>
              <a:t>Used </a:t>
            </a:r>
            <a:r>
              <a:rPr lang="en-IN" sz="1800" dirty="0" err="1">
                <a:latin typeface="Times New Roman" panose="02020603050405020304" pitchFamily="18" charset="0"/>
                <a:cs typeface="Times New Roman" panose="02020603050405020304" pitchFamily="18" charset="0"/>
              </a:rPr>
              <a:t>Filebeat</a:t>
            </a:r>
            <a:r>
              <a:rPr lang="en-IN" sz="1800" dirty="0">
                <a:latin typeface="Times New Roman" panose="02020603050405020304" pitchFamily="18" charset="0"/>
                <a:cs typeface="Times New Roman" panose="02020603050405020304" pitchFamily="18" charset="0"/>
              </a:rPr>
              <a:t>/Logstash for log ingestion and normalization. </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4. Data Processing &amp; Storage</a:t>
            </a:r>
          </a:p>
          <a:p>
            <a:r>
              <a:rPr lang="en-IN" sz="1800" dirty="0">
                <a:latin typeface="Times New Roman" panose="02020603050405020304" pitchFamily="18" charset="0"/>
                <a:cs typeface="Times New Roman" panose="02020603050405020304" pitchFamily="18" charset="0"/>
              </a:rPr>
              <a:t>Processed and parsed logs into structured format. </a:t>
            </a:r>
          </a:p>
          <a:p>
            <a:r>
              <a:rPr lang="en-IN" sz="1800" dirty="0">
                <a:latin typeface="Times New Roman" panose="02020603050405020304" pitchFamily="18" charset="0"/>
                <a:cs typeface="Times New Roman" panose="02020603050405020304" pitchFamily="18" charset="0"/>
              </a:rPr>
              <a:t>Indexed logs into OpenSearch cluster for fast querying and analysis. </a:t>
            </a:r>
          </a:p>
          <a:p>
            <a:r>
              <a:rPr lang="en-IN" sz="1800" dirty="0">
                <a:latin typeface="Times New Roman" panose="02020603050405020304" pitchFamily="18" charset="0"/>
                <a:cs typeface="Times New Roman" panose="02020603050405020304" pitchFamily="18" charset="0"/>
              </a:rPr>
              <a:t>Applied enrichment and normalization for better correlation. </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9999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1AE2B-35DB-3600-220F-33C31C8EA20F}"/>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Methodology</a:t>
            </a:r>
          </a:p>
        </p:txBody>
      </p:sp>
      <p:sp>
        <p:nvSpPr>
          <p:cNvPr id="3" name="Subtitle 2">
            <a:extLst>
              <a:ext uri="{FF2B5EF4-FFF2-40B4-BE49-F238E27FC236}">
                <a16:creationId xmlns:a16="http://schemas.microsoft.com/office/drawing/2014/main" id="{5CDF05EB-16CD-7953-FA13-F559390FB6D8}"/>
              </a:ext>
            </a:extLst>
          </p:cNvPr>
          <p:cNvSpPr>
            <a:spLocks noGrp="1"/>
          </p:cNvSpPr>
          <p:nvPr>
            <p:ph type="subTitle"/>
          </p:nvPr>
        </p:nvSpPr>
        <p:spPr>
          <a:xfrm>
            <a:off x="457200" y="1604520"/>
            <a:ext cx="8229240" cy="4710936"/>
          </a:xfrm>
        </p:spPr>
        <p:txBody>
          <a:bodyPr/>
          <a:lstStyle/>
          <a:p>
            <a:pPr marL="0" indent="0">
              <a:buNone/>
            </a:pPr>
            <a:r>
              <a:rPr lang="en-IN" sz="1800" b="1" dirty="0">
                <a:latin typeface="Times New Roman" panose="02020603050405020304" pitchFamily="18" charset="0"/>
                <a:cs typeface="Times New Roman" panose="02020603050405020304" pitchFamily="18" charset="0"/>
              </a:rPr>
              <a:t>5. Threat Detection Engine</a:t>
            </a:r>
          </a:p>
          <a:p>
            <a:r>
              <a:rPr lang="en-IN" sz="1800" dirty="0">
                <a:latin typeface="Times New Roman" panose="02020603050405020304" pitchFamily="18" charset="0"/>
                <a:cs typeface="Times New Roman" panose="02020603050405020304" pitchFamily="18" charset="0"/>
              </a:rPr>
              <a:t>Developed rule-based detection mechanisms using Sigma/custom rules. </a:t>
            </a:r>
          </a:p>
          <a:p>
            <a:r>
              <a:rPr lang="en-IN" sz="1800" dirty="0">
                <a:latin typeface="Times New Roman" panose="02020603050405020304" pitchFamily="18" charset="0"/>
                <a:cs typeface="Times New Roman" panose="02020603050405020304" pitchFamily="18" charset="0"/>
              </a:rPr>
              <a:t>Implemented: </a:t>
            </a:r>
          </a:p>
          <a:p>
            <a:pPr lvl="1"/>
            <a:r>
              <a:rPr lang="en-IN" sz="1800" dirty="0">
                <a:latin typeface="Times New Roman" panose="02020603050405020304" pitchFamily="18" charset="0"/>
                <a:cs typeface="Times New Roman" panose="02020603050405020304" pitchFamily="18" charset="0"/>
              </a:rPr>
              <a:t>Event correlation </a:t>
            </a:r>
          </a:p>
          <a:p>
            <a:pPr lvl="1"/>
            <a:r>
              <a:rPr lang="en-IN" sz="1800" dirty="0">
                <a:latin typeface="Times New Roman" panose="02020603050405020304" pitchFamily="18" charset="0"/>
                <a:cs typeface="Times New Roman" panose="02020603050405020304" pitchFamily="18" charset="0"/>
              </a:rPr>
              <a:t>Suspicious activity detection </a:t>
            </a:r>
          </a:p>
          <a:p>
            <a:pPr lvl="1"/>
            <a:r>
              <a:rPr lang="en-IN" sz="1800" dirty="0">
                <a:latin typeface="Times New Roman" panose="02020603050405020304" pitchFamily="18" charset="0"/>
                <a:cs typeface="Times New Roman" panose="02020603050405020304" pitchFamily="18" charset="0"/>
              </a:rPr>
              <a:t>Alert generation </a:t>
            </a:r>
          </a:p>
          <a:p>
            <a:pPr lvl="1"/>
            <a:r>
              <a:rPr lang="en-IN" sz="1800" dirty="0">
                <a:latin typeface="Times New Roman" panose="02020603050405020304" pitchFamily="18" charset="0"/>
                <a:cs typeface="Times New Roman" panose="02020603050405020304" pitchFamily="18" charset="0"/>
              </a:rPr>
              <a:t>Basic anomaly detection </a:t>
            </a:r>
          </a:p>
          <a:p>
            <a:r>
              <a:rPr lang="en-IN" sz="1800" dirty="0">
                <a:latin typeface="Times New Roman" panose="02020603050405020304" pitchFamily="18" charset="0"/>
                <a:cs typeface="Times New Roman" panose="02020603050405020304" pitchFamily="18" charset="0"/>
              </a:rPr>
              <a:t>Integrated MITRE ATT&amp;CK mapping for attack classification. </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6. Dashboard Development</a:t>
            </a:r>
          </a:p>
          <a:p>
            <a:r>
              <a:rPr lang="en-IN" sz="1800" dirty="0">
                <a:latin typeface="Times New Roman" panose="02020603050405020304" pitchFamily="18" charset="0"/>
                <a:cs typeface="Times New Roman" panose="02020603050405020304" pitchFamily="18" charset="0"/>
              </a:rPr>
              <a:t>Built interactive dashboards using OpenSearch Dashboards. </a:t>
            </a:r>
          </a:p>
          <a:p>
            <a:r>
              <a:rPr lang="en-IN" sz="1800" dirty="0">
                <a:latin typeface="Times New Roman" panose="02020603050405020304" pitchFamily="18" charset="0"/>
                <a:cs typeface="Times New Roman" panose="02020603050405020304" pitchFamily="18" charset="0"/>
              </a:rPr>
              <a:t>Visualized: </a:t>
            </a:r>
          </a:p>
          <a:p>
            <a:pPr lvl="1"/>
            <a:r>
              <a:rPr lang="en-IN" sz="1800" dirty="0">
                <a:latin typeface="Times New Roman" panose="02020603050405020304" pitchFamily="18" charset="0"/>
                <a:cs typeface="Times New Roman" panose="02020603050405020304" pitchFamily="18" charset="0"/>
              </a:rPr>
              <a:t>Alert severity </a:t>
            </a:r>
          </a:p>
          <a:p>
            <a:pPr lvl="1"/>
            <a:r>
              <a:rPr lang="en-IN" sz="1800" dirty="0">
                <a:latin typeface="Times New Roman" panose="02020603050405020304" pitchFamily="18" charset="0"/>
                <a:cs typeface="Times New Roman" panose="02020603050405020304" pitchFamily="18" charset="0"/>
              </a:rPr>
              <a:t>Attack trends </a:t>
            </a:r>
          </a:p>
          <a:p>
            <a:pPr lvl="1"/>
            <a:r>
              <a:rPr lang="en-IN" sz="1800" dirty="0">
                <a:latin typeface="Times New Roman" panose="02020603050405020304" pitchFamily="18" charset="0"/>
                <a:cs typeface="Times New Roman" panose="02020603050405020304" pitchFamily="18" charset="0"/>
              </a:rPr>
              <a:t>Threat timelines </a:t>
            </a:r>
          </a:p>
          <a:p>
            <a:pPr lvl="1"/>
            <a:r>
              <a:rPr lang="en-IN" sz="1800" dirty="0">
                <a:latin typeface="Times New Roman" panose="02020603050405020304" pitchFamily="18" charset="0"/>
                <a:cs typeface="Times New Roman" panose="02020603050405020304" pitchFamily="18" charset="0"/>
              </a:rPr>
              <a:t>Event statistics </a:t>
            </a:r>
          </a:p>
          <a:p>
            <a:pPr lvl="1"/>
            <a:r>
              <a:rPr lang="en-IN" sz="1800" dirty="0">
                <a:latin typeface="Times New Roman" panose="02020603050405020304" pitchFamily="18" charset="0"/>
                <a:cs typeface="Times New Roman" panose="02020603050405020304" pitchFamily="18" charset="0"/>
              </a:rPr>
              <a:t>MITRE ATT&amp;CK coverage</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9899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FA620-5E88-3BF9-CEA0-864A5E1ADBE8}"/>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Methodology</a:t>
            </a:r>
          </a:p>
        </p:txBody>
      </p:sp>
      <p:sp>
        <p:nvSpPr>
          <p:cNvPr id="3" name="Subtitle 2">
            <a:extLst>
              <a:ext uri="{FF2B5EF4-FFF2-40B4-BE49-F238E27FC236}">
                <a16:creationId xmlns:a16="http://schemas.microsoft.com/office/drawing/2014/main" id="{9CD45A9D-89ED-87A1-46CB-9D65DBCCB6F0}"/>
              </a:ext>
            </a:extLst>
          </p:cNvPr>
          <p:cNvSpPr>
            <a:spLocks noGrp="1"/>
          </p:cNvSpPr>
          <p:nvPr>
            <p:ph type="subTitle"/>
          </p:nvPr>
        </p:nvSpPr>
        <p:spPr>
          <a:xfrm>
            <a:off x="457200" y="1604520"/>
            <a:ext cx="8229240" cy="4491480"/>
          </a:xfrm>
        </p:spPr>
        <p:txBody>
          <a:bodyPr/>
          <a:lstStyle/>
          <a:p>
            <a:pPr marL="0" indent="0">
              <a:buNone/>
            </a:pPr>
            <a:r>
              <a:rPr lang="en-IN" sz="1800" b="1" dirty="0">
                <a:latin typeface="Times New Roman" panose="02020603050405020304" pitchFamily="18" charset="0"/>
                <a:cs typeface="Times New Roman" panose="02020603050405020304" pitchFamily="18" charset="0"/>
              </a:rPr>
              <a:t>7. Alerting &amp; Notifications</a:t>
            </a:r>
          </a:p>
          <a:p>
            <a:r>
              <a:rPr lang="en-IN" sz="1800" dirty="0">
                <a:latin typeface="Times New Roman" panose="02020603050405020304" pitchFamily="18" charset="0"/>
                <a:cs typeface="Times New Roman" panose="02020603050405020304" pitchFamily="18" charset="0"/>
              </a:rPr>
              <a:t>Configured automated alerts for detected threats. </a:t>
            </a:r>
          </a:p>
          <a:p>
            <a:r>
              <a:rPr lang="en-IN" sz="1800" dirty="0">
                <a:latin typeface="Times New Roman" panose="02020603050405020304" pitchFamily="18" charset="0"/>
                <a:cs typeface="Times New Roman" panose="02020603050405020304" pitchFamily="18" charset="0"/>
              </a:rPr>
              <a:t>Supported notification channels such as: </a:t>
            </a:r>
          </a:p>
          <a:p>
            <a:pPr lvl="1"/>
            <a:r>
              <a:rPr lang="en-IN" sz="1800" dirty="0">
                <a:latin typeface="Times New Roman" panose="02020603050405020304" pitchFamily="18" charset="0"/>
                <a:cs typeface="Times New Roman" panose="02020603050405020304" pitchFamily="18" charset="0"/>
              </a:rPr>
              <a:t>Email </a:t>
            </a:r>
          </a:p>
          <a:p>
            <a:pPr lvl="1"/>
            <a:r>
              <a:rPr lang="en-IN" sz="1800" dirty="0">
                <a:latin typeface="Times New Roman" panose="02020603050405020304" pitchFamily="18" charset="0"/>
                <a:cs typeface="Times New Roman" panose="02020603050405020304" pitchFamily="18" charset="0"/>
              </a:rPr>
              <a:t>Slack </a:t>
            </a:r>
          </a:p>
          <a:p>
            <a:pPr lvl="1"/>
            <a:r>
              <a:rPr lang="en-IN" sz="1800" dirty="0">
                <a:latin typeface="Times New Roman" panose="02020603050405020304" pitchFamily="18" charset="0"/>
                <a:cs typeface="Times New Roman" panose="02020603050405020304" pitchFamily="18" charset="0"/>
              </a:rPr>
              <a:t>Telegram </a:t>
            </a:r>
          </a:p>
          <a:p>
            <a:pPr lvl="1"/>
            <a:r>
              <a:rPr lang="en-IN" sz="1800" dirty="0">
                <a:latin typeface="Times New Roman" panose="02020603050405020304" pitchFamily="18" charset="0"/>
                <a:cs typeface="Times New Roman" panose="02020603050405020304" pitchFamily="18" charset="0"/>
              </a:rPr>
              <a:t>Webhooks </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0" indent="0">
              <a:buNone/>
            </a:pPr>
            <a:r>
              <a:rPr lang="en-IN" sz="1800" b="1" dirty="0">
                <a:latin typeface="Times New Roman" panose="02020603050405020304" pitchFamily="18" charset="0"/>
                <a:cs typeface="Times New Roman" panose="02020603050405020304" pitchFamily="18" charset="0"/>
              </a:rPr>
              <a:t>8. Testing &amp; Attack Simulation</a:t>
            </a:r>
          </a:p>
          <a:p>
            <a:r>
              <a:rPr lang="en-IN" sz="1800" dirty="0">
                <a:latin typeface="Times New Roman" panose="02020603050405020304" pitchFamily="18" charset="0"/>
                <a:cs typeface="Times New Roman" panose="02020603050405020304" pitchFamily="18" charset="0"/>
              </a:rPr>
              <a:t>Simulated attack scenarios to validate detection rules. </a:t>
            </a:r>
          </a:p>
          <a:p>
            <a:r>
              <a:rPr lang="en-IN" sz="1800" dirty="0">
                <a:latin typeface="Times New Roman" panose="02020603050405020304" pitchFamily="18" charset="0"/>
                <a:cs typeface="Times New Roman" panose="02020603050405020304" pitchFamily="18" charset="0"/>
              </a:rPr>
              <a:t>Tested: </a:t>
            </a:r>
          </a:p>
          <a:p>
            <a:pPr lvl="1"/>
            <a:r>
              <a:rPr lang="en-IN" sz="1800" dirty="0">
                <a:latin typeface="Times New Roman" panose="02020603050405020304" pitchFamily="18" charset="0"/>
                <a:cs typeface="Times New Roman" panose="02020603050405020304" pitchFamily="18" charset="0"/>
              </a:rPr>
              <a:t>Brute-force attacks </a:t>
            </a:r>
          </a:p>
          <a:p>
            <a:pPr lvl="1"/>
            <a:r>
              <a:rPr lang="en-IN" sz="1800" dirty="0">
                <a:latin typeface="Times New Roman" panose="02020603050405020304" pitchFamily="18" charset="0"/>
                <a:cs typeface="Times New Roman" panose="02020603050405020304" pitchFamily="18" charset="0"/>
              </a:rPr>
              <a:t>Suspicious login attempts </a:t>
            </a:r>
          </a:p>
          <a:p>
            <a:pPr lvl="1"/>
            <a:r>
              <a:rPr lang="en-IN" sz="1800" dirty="0">
                <a:latin typeface="Times New Roman" panose="02020603050405020304" pitchFamily="18" charset="0"/>
                <a:cs typeface="Times New Roman" panose="02020603050405020304" pitchFamily="18" charset="0"/>
              </a:rPr>
              <a:t>Malicious process execution </a:t>
            </a:r>
          </a:p>
          <a:p>
            <a:pPr lvl="1"/>
            <a:r>
              <a:rPr lang="en-IN" sz="1800" dirty="0">
                <a:latin typeface="Times New Roman" panose="02020603050405020304" pitchFamily="18" charset="0"/>
                <a:cs typeface="Times New Roman" panose="02020603050405020304" pitchFamily="18" charset="0"/>
              </a:rPr>
              <a:t>Network anomalies </a:t>
            </a:r>
          </a:p>
          <a:p>
            <a:r>
              <a:rPr lang="en-IN" sz="1800" dirty="0">
                <a:latin typeface="Times New Roman" panose="02020603050405020304" pitchFamily="18" charset="0"/>
                <a:cs typeface="Times New Roman" panose="02020603050405020304" pitchFamily="18" charset="0"/>
              </a:rPr>
              <a:t>Verified alert generation and dashboard updates. </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4358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25B61-65FB-04BE-4935-4DF0D4F7C37E}"/>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Methodology</a:t>
            </a:r>
          </a:p>
        </p:txBody>
      </p:sp>
      <p:sp>
        <p:nvSpPr>
          <p:cNvPr id="3" name="Subtitle 2">
            <a:extLst>
              <a:ext uri="{FF2B5EF4-FFF2-40B4-BE49-F238E27FC236}">
                <a16:creationId xmlns:a16="http://schemas.microsoft.com/office/drawing/2014/main" id="{77F301AA-AB2B-C2B8-2CFF-F7D1C77846F2}"/>
              </a:ext>
            </a:extLst>
          </p:cNvPr>
          <p:cNvSpPr>
            <a:spLocks noGrp="1"/>
          </p:cNvSpPr>
          <p:nvPr>
            <p:ph type="subTitle"/>
          </p:nvPr>
        </p:nvSpPr>
        <p:spPr>
          <a:xfrm>
            <a:off x="457200" y="1604520"/>
            <a:ext cx="8229240" cy="4601208"/>
          </a:xfrm>
        </p:spPr>
        <p:txBody>
          <a:bodyPr/>
          <a:lstStyle/>
          <a:p>
            <a:pPr marL="0" indent="0">
              <a:buNone/>
            </a:pPr>
            <a:r>
              <a:rPr lang="en-US" sz="1800" b="1" dirty="0">
                <a:latin typeface="Times New Roman" panose="02020603050405020304" pitchFamily="18" charset="0"/>
                <a:cs typeface="Times New Roman" panose="02020603050405020304" pitchFamily="18" charset="0"/>
              </a:rPr>
              <a:t>9. Analysis &amp; Evaluation</a:t>
            </a:r>
          </a:p>
          <a:p>
            <a:r>
              <a:rPr lang="en-US" sz="1800" dirty="0">
                <a:latin typeface="Times New Roman" panose="02020603050405020304" pitchFamily="18" charset="0"/>
                <a:cs typeface="Times New Roman" panose="02020603050405020304" pitchFamily="18" charset="0"/>
              </a:rPr>
              <a:t>Evaluated system performance based on: </a:t>
            </a:r>
          </a:p>
          <a:p>
            <a:pPr lvl="1"/>
            <a:r>
              <a:rPr lang="en-US" sz="1800" dirty="0">
                <a:latin typeface="Times New Roman" panose="02020603050405020304" pitchFamily="18" charset="0"/>
                <a:cs typeface="Times New Roman" panose="02020603050405020304" pitchFamily="18" charset="0"/>
              </a:rPr>
              <a:t>Detection accuracy </a:t>
            </a:r>
          </a:p>
          <a:p>
            <a:pPr lvl="1"/>
            <a:r>
              <a:rPr lang="en-US" sz="1800" dirty="0">
                <a:latin typeface="Times New Roman" panose="02020603050405020304" pitchFamily="18" charset="0"/>
                <a:cs typeface="Times New Roman" panose="02020603050405020304" pitchFamily="18" charset="0"/>
              </a:rPr>
              <a:t>Alert generation </a:t>
            </a:r>
          </a:p>
          <a:p>
            <a:pPr lvl="1"/>
            <a:r>
              <a:rPr lang="en-US" sz="1800" dirty="0">
                <a:latin typeface="Times New Roman" panose="02020603050405020304" pitchFamily="18" charset="0"/>
                <a:cs typeface="Times New Roman" panose="02020603050405020304" pitchFamily="18" charset="0"/>
              </a:rPr>
              <a:t>Dashboard responsiveness </a:t>
            </a:r>
          </a:p>
          <a:p>
            <a:pPr lvl="1"/>
            <a:r>
              <a:rPr lang="en-US" sz="1800" dirty="0">
                <a:latin typeface="Times New Roman" panose="02020603050405020304" pitchFamily="18" charset="0"/>
                <a:cs typeface="Times New Roman" panose="02020603050405020304" pitchFamily="18" charset="0"/>
              </a:rPr>
              <a:t>Log indexing efficiency </a:t>
            </a:r>
          </a:p>
          <a:p>
            <a:r>
              <a:rPr lang="en-US" sz="1800" dirty="0">
                <a:latin typeface="Times New Roman" panose="02020603050405020304" pitchFamily="18" charset="0"/>
                <a:cs typeface="Times New Roman" panose="02020603050405020304" pitchFamily="18" charset="0"/>
              </a:rPr>
              <a:t>Analyzed attack visibility and incident investigation workflow. </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10. Deployment &amp; Future Enhancements</a:t>
            </a:r>
          </a:p>
          <a:p>
            <a:r>
              <a:rPr lang="en-US" sz="1800" dirty="0">
                <a:latin typeface="Times New Roman" panose="02020603050405020304" pitchFamily="18" charset="0"/>
                <a:cs typeface="Times New Roman" panose="02020603050405020304" pitchFamily="18" charset="0"/>
              </a:rPr>
              <a:t>Deployed the platform using Docker-based infrastructure. </a:t>
            </a:r>
          </a:p>
          <a:p>
            <a:r>
              <a:rPr lang="en-US" sz="1800" dirty="0">
                <a:latin typeface="Times New Roman" panose="02020603050405020304" pitchFamily="18" charset="0"/>
                <a:cs typeface="Times New Roman" panose="02020603050405020304" pitchFamily="18" charset="0"/>
              </a:rPr>
              <a:t>Proposed future improvements: </a:t>
            </a:r>
          </a:p>
          <a:p>
            <a:pPr lvl="1"/>
            <a:r>
              <a:rPr lang="en-US" sz="1800" dirty="0">
                <a:latin typeface="Times New Roman" panose="02020603050405020304" pitchFamily="18" charset="0"/>
                <a:cs typeface="Times New Roman" panose="02020603050405020304" pitchFamily="18" charset="0"/>
              </a:rPr>
              <a:t>Machine learning-based anomaly detection </a:t>
            </a:r>
          </a:p>
          <a:p>
            <a:pPr lvl="1"/>
            <a:r>
              <a:rPr lang="en-US" sz="1800" dirty="0">
                <a:latin typeface="Times New Roman" panose="02020603050405020304" pitchFamily="18" charset="0"/>
                <a:cs typeface="Times New Roman" panose="02020603050405020304" pitchFamily="18" charset="0"/>
              </a:rPr>
              <a:t>SOAR integration </a:t>
            </a:r>
          </a:p>
          <a:p>
            <a:pPr lvl="1"/>
            <a:r>
              <a:rPr lang="en-US" sz="1800" dirty="0">
                <a:latin typeface="Times New Roman" panose="02020603050405020304" pitchFamily="18" charset="0"/>
                <a:cs typeface="Times New Roman" panose="02020603050405020304" pitchFamily="18" charset="0"/>
              </a:rPr>
              <a:t>Real-time streaming analytics </a:t>
            </a:r>
          </a:p>
          <a:p>
            <a:pPr lvl="1"/>
            <a:r>
              <a:rPr lang="en-US" sz="1800" dirty="0">
                <a:latin typeface="Times New Roman" panose="02020603050405020304" pitchFamily="18" charset="0"/>
                <a:cs typeface="Times New Roman" panose="02020603050405020304" pitchFamily="18" charset="0"/>
              </a:rPr>
              <a:t>Threat intelligence integration </a:t>
            </a:r>
          </a:p>
          <a:p>
            <a:pPr lvl="1"/>
            <a:r>
              <a:rPr lang="en-US" sz="1800" dirty="0">
                <a:latin typeface="Times New Roman" panose="02020603050405020304" pitchFamily="18" charset="0"/>
                <a:cs typeface="Times New Roman" panose="02020603050405020304" pitchFamily="18" charset="0"/>
              </a:rPr>
              <a:t>Cloud deployment support</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27941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C5E7B-2088-2BBA-7AFF-04CC9FDC0EF2}"/>
              </a:ext>
            </a:extLst>
          </p:cNvPr>
          <p:cNvSpPr>
            <a:spLocks noGrp="1"/>
          </p:cNvSpPr>
          <p:nvPr>
            <p:ph type="title"/>
          </p:nvPr>
        </p:nvSpPr>
        <p:spPr/>
        <p:txBody>
          <a:bodyPr/>
          <a:lstStyle/>
          <a:p>
            <a:pPr algn="ctr"/>
            <a:r>
              <a:rPr lang="en-IN" sz="3200" dirty="0"/>
              <a:t> </a:t>
            </a:r>
            <a:r>
              <a:rPr lang="en-IN" sz="3200" dirty="0">
                <a:latin typeface="Times New Roman" panose="02020603050405020304" pitchFamily="18" charset="0"/>
                <a:cs typeface="Times New Roman" panose="02020603050405020304" pitchFamily="18" charset="0"/>
              </a:rPr>
              <a:t>Screenshots</a:t>
            </a:r>
          </a:p>
        </p:txBody>
      </p:sp>
      <p:sp>
        <p:nvSpPr>
          <p:cNvPr id="3" name="Subtitle 2">
            <a:extLst>
              <a:ext uri="{FF2B5EF4-FFF2-40B4-BE49-F238E27FC236}">
                <a16:creationId xmlns:a16="http://schemas.microsoft.com/office/drawing/2014/main" id="{519F0287-6C85-5AB0-6BD5-D1A04A57524D}"/>
              </a:ext>
            </a:extLst>
          </p:cNvPr>
          <p:cNvSpPr>
            <a:spLocks noGrp="1"/>
          </p:cNvSpPr>
          <p:nvPr>
            <p:ph type="subTitle"/>
          </p:nvPr>
        </p:nvSpPr>
        <p:spPr>
          <a:xfrm>
            <a:off x="457380" y="1024128"/>
            <a:ext cx="8229240" cy="646176"/>
          </a:xfrm>
        </p:spPr>
        <p:txBody>
          <a:bodyPr/>
          <a:lstStyle/>
          <a:p>
            <a:r>
              <a:rPr lang="en-IN" dirty="0"/>
              <a:t>Overview Page</a:t>
            </a:r>
          </a:p>
        </p:txBody>
      </p:sp>
      <p:pic>
        <p:nvPicPr>
          <p:cNvPr id="7" name="Picture 6">
            <a:extLst>
              <a:ext uri="{FF2B5EF4-FFF2-40B4-BE49-F238E27FC236}">
                <a16:creationId xmlns:a16="http://schemas.microsoft.com/office/drawing/2014/main" id="{8C5F8D67-31F2-AAFE-46D1-33B31C353BE1}"/>
              </a:ext>
            </a:extLst>
          </p:cNvPr>
          <p:cNvPicPr>
            <a:picLocks noChangeAspect="1"/>
          </p:cNvPicPr>
          <p:nvPr/>
        </p:nvPicPr>
        <p:blipFill>
          <a:blip r:embed="rId2"/>
          <a:stretch>
            <a:fillRect/>
          </a:stretch>
        </p:blipFill>
        <p:spPr>
          <a:xfrm>
            <a:off x="0" y="1780393"/>
            <a:ext cx="9144000" cy="4888632"/>
          </a:xfrm>
          <a:prstGeom prst="rect">
            <a:avLst/>
          </a:prstGeom>
        </p:spPr>
      </p:pic>
    </p:spTree>
    <p:extLst>
      <p:ext uri="{BB962C8B-B14F-4D97-AF65-F5344CB8AC3E}">
        <p14:creationId xmlns:p14="http://schemas.microsoft.com/office/powerpoint/2010/main" val="4105063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F55F4-D92E-44D0-258F-83AD6522B769}"/>
              </a:ext>
            </a:extLst>
          </p:cNvPr>
          <p:cNvSpPr>
            <a:spLocks noGrp="1"/>
          </p:cNvSpPr>
          <p:nvPr>
            <p:ph type="title"/>
          </p:nvPr>
        </p:nvSpPr>
        <p:spPr/>
        <p:txBody>
          <a:bodyPr/>
          <a:lstStyle/>
          <a:p>
            <a:pPr algn="ctr"/>
            <a:r>
              <a:rPr lang="en-IN" dirty="0"/>
              <a:t> </a:t>
            </a:r>
            <a:r>
              <a:rPr lang="en-IN" sz="3200" dirty="0">
                <a:latin typeface="Times New Roman" panose="02020603050405020304" pitchFamily="18" charset="0"/>
                <a:cs typeface="Times New Roman" panose="02020603050405020304" pitchFamily="18" charset="0"/>
              </a:rPr>
              <a:t>Screenshots</a:t>
            </a:r>
          </a:p>
        </p:txBody>
      </p:sp>
      <p:sp>
        <p:nvSpPr>
          <p:cNvPr id="3" name="Subtitle 2">
            <a:extLst>
              <a:ext uri="{FF2B5EF4-FFF2-40B4-BE49-F238E27FC236}">
                <a16:creationId xmlns:a16="http://schemas.microsoft.com/office/drawing/2014/main" id="{11FA8CAB-250D-64BA-40F3-784F09CE69E2}"/>
              </a:ext>
            </a:extLst>
          </p:cNvPr>
          <p:cNvSpPr>
            <a:spLocks noGrp="1"/>
          </p:cNvSpPr>
          <p:nvPr>
            <p:ph type="subTitle"/>
          </p:nvPr>
        </p:nvSpPr>
        <p:spPr>
          <a:xfrm>
            <a:off x="457380" y="946152"/>
            <a:ext cx="8229240" cy="1028952"/>
          </a:xfrm>
        </p:spPr>
        <p:txBody>
          <a:bodyPr/>
          <a:lstStyle/>
          <a:p>
            <a:r>
              <a:rPr lang="en-IN" dirty="0">
                <a:latin typeface="Times New Roman" panose="02020603050405020304" pitchFamily="18" charset="0"/>
                <a:cs typeface="Times New Roman" panose="02020603050405020304" pitchFamily="18" charset="0"/>
              </a:rPr>
              <a:t>Data selection Page</a:t>
            </a:r>
          </a:p>
        </p:txBody>
      </p:sp>
      <p:pic>
        <p:nvPicPr>
          <p:cNvPr id="5" name="Picture 4">
            <a:extLst>
              <a:ext uri="{FF2B5EF4-FFF2-40B4-BE49-F238E27FC236}">
                <a16:creationId xmlns:a16="http://schemas.microsoft.com/office/drawing/2014/main" id="{596F6718-465C-AF92-AA4C-36F73C50FF5A}"/>
              </a:ext>
            </a:extLst>
          </p:cNvPr>
          <p:cNvPicPr>
            <a:picLocks noChangeAspect="1"/>
          </p:cNvPicPr>
          <p:nvPr/>
        </p:nvPicPr>
        <p:blipFill>
          <a:blip r:embed="rId2"/>
          <a:stretch>
            <a:fillRect/>
          </a:stretch>
        </p:blipFill>
        <p:spPr>
          <a:xfrm>
            <a:off x="0" y="1975104"/>
            <a:ext cx="9144000" cy="4669535"/>
          </a:xfrm>
          <a:prstGeom prst="rect">
            <a:avLst/>
          </a:prstGeom>
        </p:spPr>
      </p:pic>
    </p:spTree>
    <p:extLst>
      <p:ext uri="{BB962C8B-B14F-4D97-AF65-F5344CB8AC3E}">
        <p14:creationId xmlns:p14="http://schemas.microsoft.com/office/powerpoint/2010/main" val="1822341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68217-DC67-7B36-EBF3-A63BA77B8DA2}"/>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 Screenshots</a:t>
            </a:r>
          </a:p>
        </p:txBody>
      </p:sp>
      <p:sp>
        <p:nvSpPr>
          <p:cNvPr id="3" name="Subtitle 2">
            <a:extLst>
              <a:ext uri="{FF2B5EF4-FFF2-40B4-BE49-F238E27FC236}">
                <a16:creationId xmlns:a16="http://schemas.microsoft.com/office/drawing/2014/main" id="{521BB825-8B6B-D545-9578-81812F4B8686}"/>
              </a:ext>
            </a:extLst>
          </p:cNvPr>
          <p:cNvSpPr>
            <a:spLocks noGrp="1"/>
          </p:cNvSpPr>
          <p:nvPr>
            <p:ph type="subTitle"/>
          </p:nvPr>
        </p:nvSpPr>
        <p:spPr>
          <a:xfrm>
            <a:off x="323088" y="914040"/>
            <a:ext cx="8229240" cy="1065528"/>
          </a:xfrm>
        </p:spPr>
        <p:txBody>
          <a:bodyPr/>
          <a:lstStyle/>
          <a:p>
            <a:r>
              <a:rPr lang="en-IN" dirty="0">
                <a:latin typeface="Times New Roman" panose="02020603050405020304" pitchFamily="18" charset="0"/>
                <a:cs typeface="Times New Roman" panose="02020603050405020304" pitchFamily="18" charset="0"/>
              </a:rPr>
              <a:t>Selected Data Page</a:t>
            </a:r>
          </a:p>
        </p:txBody>
      </p:sp>
      <p:pic>
        <p:nvPicPr>
          <p:cNvPr id="5" name="Picture 4">
            <a:extLst>
              <a:ext uri="{FF2B5EF4-FFF2-40B4-BE49-F238E27FC236}">
                <a16:creationId xmlns:a16="http://schemas.microsoft.com/office/drawing/2014/main" id="{9421BF34-F8E0-6197-93DA-2852E99737B7}"/>
              </a:ext>
            </a:extLst>
          </p:cNvPr>
          <p:cNvPicPr>
            <a:picLocks noChangeAspect="1"/>
          </p:cNvPicPr>
          <p:nvPr/>
        </p:nvPicPr>
        <p:blipFill>
          <a:blip r:embed="rId2"/>
          <a:stretch>
            <a:fillRect/>
          </a:stretch>
        </p:blipFill>
        <p:spPr>
          <a:xfrm>
            <a:off x="0" y="1674970"/>
            <a:ext cx="9144000" cy="4859941"/>
          </a:xfrm>
          <a:prstGeom prst="rect">
            <a:avLst/>
          </a:prstGeom>
        </p:spPr>
      </p:pic>
    </p:spTree>
    <p:extLst>
      <p:ext uri="{BB962C8B-B14F-4D97-AF65-F5344CB8AC3E}">
        <p14:creationId xmlns:p14="http://schemas.microsoft.com/office/powerpoint/2010/main" val="3650468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E3AC6-1B71-4040-A81F-B8FC09959E8F}"/>
              </a:ext>
            </a:extLst>
          </p:cNvPr>
          <p:cNvSpPr>
            <a:spLocks noGrp="1"/>
          </p:cNvSpPr>
          <p:nvPr>
            <p:ph type="title"/>
          </p:nvPr>
        </p:nvSpPr>
        <p:spPr/>
        <p:txBody>
          <a:bodyPr/>
          <a:lstStyle/>
          <a:p>
            <a:pPr algn="ctr"/>
            <a:r>
              <a:rPr lang="en-IN" dirty="0"/>
              <a:t> </a:t>
            </a:r>
            <a:r>
              <a:rPr lang="en-IN" sz="3200" dirty="0">
                <a:latin typeface="Times New Roman" panose="02020603050405020304" pitchFamily="18" charset="0"/>
                <a:cs typeface="Times New Roman" panose="02020603050405020304" pitchFamily="18" charset="0"/>
              </a:rPr>
              <a:t>Screenshots</a:t>
            </a:r>
          </a:p>
        </p:txBody>
      </p:sp>
      <p:sp>
        <p:nvSpPr>
          <p:cNvPr id="3" name="Subtitle 2">
            <a:extLst>
              <a:ext uri="{FF2B5EF4-FFF2-40B4-BE49-F238E27FC236}">
                <a16:creationId xmlns:a16="http://schemas.microsoft.com/office/drawing/2014/main" id="{A49B4846-00C8-02E2-0E75-F2CB34E7E10C}"/>
              </a:ext>
            </a:extLst>
          </p:cNvPr>
          <p:cNvSpPr>
            <a:spLocks noGrp="1"/>
          </p:cNvSpPr>
          <p:nvPr>
            <p:ph type="subTitle"/>
          </p:nvPr>
        </p:nvSpPr>
        <p:spPr>
          <a:xfrm>
            <a:off x="371856" y="731520"/>
            <a:ext cx="8229240" cy="1670304"/>
          </a:xfrm>
        </p:spPr>
        <p:txBody>
          <a:bodyPr/>
          <a:lstStyle/>
          <a:p>
            <a:r>
              <a:rPr lang="en-IN" dirty="0">
                <a:latin typeface="Times New Roman" panose="02020603050405020304" pitchFamily="18" charset="0"/>
                <a:cs typeface="Times New Roman" panose="02020603050405020304" pitchFamily="18" charset="0"/>
              </a:rPr>
              <a:t>MITRE ATT&amp;&amp;CK Coverage Page</a:t>
            </a:r>
          </a:p>
        </p:txBody>
      </p:sp>
      <p:pic>
        <p:nvPicPr>
          <p:cNvPr id="5" name="Picture 4">
            <a:extLst>
              <a:ext uri="{FF2B5EF4-FFF2-40B4-BE49-F238E27FC236}">
                <a16:creationId xmlns:a16="http://schemas.microsoft.com/office/drawing/2014/main" id="{38B42572-14BF-C2D3-F09F-2D3B8D61899C}"/>
              </a:ext>
            </a:extLst>
          </p:cNvPr>
          <p:cNvPicPr>
            <a:picLocks noChangeAspect="1"/>
          </p:cNvPicPr>
          <p:nvPr/>
        </p:nvPicPr>
        <p:blipFill>
          <a:blip r:embed="rId2"/>
          <a:stretch>
            <a:fillRect/>
          </a:stretch>
        </p:blipFill>
        <p:spPr>
          <a:xfrm>
            <a:off x="0" y="1828080"/>
            <a:ext cx="9144000" cy="4605338"/>
          </a:xfrm>
          <a:prstGeom prst="rect">
            <a:avLst/>
          </a:prstGeom>
        </p:spPr>
      </p:pic>
    </p:spTree>
    <p:extLst>
      <p:ext uri="{BB962C8B-B14F-4D97-AF65-F5344CB8AC3E}">
        <p14:creationId xmlns:p14="http://schemas.microsoft.com/office/powerpoint/2010/main" val="1434704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79825-0124-36DC-16DE-5FDEAA67946C}"/>
              </a:ext>
            </a:extLst>
          </p:cNvPr>
          <p:cNvSpPr>
            <a:spLocks noGrp="1"/>
          </p:cNvSpPr>
          <p:nvPr>
            <p:ph type="title"/>
          </p:nvPr>
        </p:nvSpPr>
        <p:spPr/>
        <p:txBody>
          <a:bodyPr/>
          <a:lstStyle/>
          <a:p>
            <a:pPr algn="ctr"/>
            <a:r>
              <a:rPr lang="en-IN" dirty="0"/>
              <a:t> </a:t>
            </a:r>
            <a:r>
              <a:rPr lang="en-IN" sz="3200" dirty="0">
                <a:latin typeface="Times New Roman" panose="02020603050405020304" pitchFamily="18" charset="0"/>
                <a:cs typeface="Times New Roman" panose="02020603050405020304" pitchFamily="18" charset="0"/>
              </a:rPr>
              <a:t>Screenshots</a:t>
            </a:r>
          </a:p>
        </p:txBody>
      </p:sp>
      <p:sp>
        <p:nvSpPr>
          <p:cNvPr id="3" name="Subtitle 2">
            <a:extLst>
              <a:ext uri="{FF2B5EF4-FFF2-40B4-BE49-F238E27FC236}">
                <a16:creationId xmlns:a16="http://schemas.microsoft.com/office/drawing/2014/main" id="{7005F1EB-8FEC-EABC-3C16-CF03103BCFD4}"/>
              </a:ext>
            </a:extLst>
          </p:cNvPr>
          <p:cNvSpPr>
            <a:spLocks noGrp="1"/>
          </p:cNvSpPr>
          <p:nvPr>
            <p:ph type="subTitle"/>
          </p:nvPr>
        </p:nvSpPr>
        <p:spPr>
          <a:xfrm>
            <a:off x="457380" y="914040"/>
            <a:ext cx="8229240" cy="1187448"/>
          </a:xfrm>
        </p:spPr>
        <p:txBody>
          <a:bodyPr/>
          <a:lstStyle/>
          <a:p>
            <a:r>
              <a:rPr lang="en-IN" dirty="0">
                <a:latin typeface="Times New Roman" panose="02020603050405020304" pitchFamily="18" charset="0"/>
                <a:cs typeface="Times New Roman" panose="02020603050405020304" pitchFamily="18" charset="0"/>
              </a:rPr>
              <a:t>Alert Triage and investigation Page</a:t>
            </a:r>
          </a:p>
        </p:txBody>
      </p:sp>
      <p:pic>
        <p:nvPicPr>
          <p:cNvPr id="5" name="Picture 4">
            <a:extLst>
              <a:ext uri="{FF2B5EF4-FFF2-40B4-BE49-F238E27FC236}">
                <a16:creationId xmlns:a16="http://schemas.microsoft.com/office/drawing/2014/main" id="{0F16EB03-3921-B699-753A-A5D096C48C62}"/>
              </a:ext>
            </a:extLst>
          </p:cNvPr>
          <p:cNvPicPr>
            <a:picLocks noChangeAspect="1"/>
          </p:cNvPicPr>
          <p:nvPr/>
        </p:nvPicPr>
        <p:blipFill>
          <a:blip r:embed="rId2"/>
          <a:stretch>
            <a:fillRect/>
          </a:stretch>
        </p:blipFill>
        <p:spPr>
          <a:xfrm>
            <a:off x="0" y="1828080"/>
            <a:ext cx="9144000" cy="4645872"/>
          </a:xfrm>
          <a:prstGeom prst="rect">
            <a:avLst/>
          </a:prstGeom>
        </p:spPr>
      </p:pic>
    </p:spTree>
    <p:extLst>
      <p:ext uri="{BB962C8B-B14F-4D97-AF65-F5344CB8AC3E}">
        <p14:creationId xmlns:p14="http://schemas.microsoft.com/office/powerpoint/2010/main" val="2554617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E6E0D-5F08-5F5B-7ECB-B5699BECA370}"/>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Future Scope</a:t>
            </a:r>
          </a:p>
        </p:txBody>
      </p:sp>
      <p:sp>
        <p:nvSpPr>
          <p:cNvPr id="3" name="Subtitle 2">
            <a:extLst>
              <a:ext uri="{FF2B5EF4-FFF2-40B4-BE49-F238E27FC236}">
                <a16:creationId xmlns:a16="http://schemas.microsoft.com/office/drawing/2014/main" id="{4E7B567A-0C8F-685F-DC60-F9632E841A69}"/>
              </a:ext>
            </a:extLst>
          </p:cNvPr>
          <p:cNvSpPr>
            <a:spLocks noGrp="1"/>
          </p:cNvSpPr>
          <p:nvPr>
            <p:ph type="subTitle"/>
          </p:nvPr>
        </p:nvSpPr>
        <p:spPr>
          <a:xfrm>
            <a:off x="0" y="3805351"/>
            <a:ext cx="9144000" cy="259080"/>
          </a:xfrm>
        </p:spPr>
        <p:txBody>
          <a:bodyPr/>
          <a:lstStyle/>
          <a:p>
            <a:r>
              <a:rPr lang="en-US" sz="1800" dirty="0">
                <a:latin typeface="Times New Roman" panose="02020603050405020304" pitchFamily="18" charset="0"/>
                <a:cs typeface="Times New Roman" panose="02020603050405020304" pitchFamily="18" charset="0"/>
              </a:rPr>
              <a:t>The future scope of this project focuses on enhancing the SOC Dashboard with advanced automation, intelligent threat analysis, and large-scale deployment capabilities. The system can be extended to support machine learning-based anomaly detection for identifying unknown threats and unusual behavior patterns. Integration with real-time threat intelligence feeds can improve attack detection accuracy by correlating logs with known Indicators of Compromise (IOCs). The platform can also be expanded into a full SIEM and SOAR solution with automated incident response and remediation workflows.</a:t>
            </a: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Key Future Enhancements</a:t>
            </a:r>
          </a:p>
          <a:p>
            <a:pPr marL="0" indent="0">
              <a:buNone/>
            </a:pPr>
            <a:endParaRPr lang="en-US" sz="18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Machine learning-based anomaly detection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SOAR (Security Orchestration, Automation &amp; Response) integration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Real-time streaming log analytics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Threat intelligence feed integration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Cloud-native and distributed deployment support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AI-assisted threat hunting and investigation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Advanced attack correlation and prediction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Automated incident response workflows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Enhanced visualization and reporting dashboards</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6639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F10C3-85A6-C7C5-73C2-8AE44759DBDE}"/>
              </a:ext>
            </a:extLst>
          </p:cNvPr>
          <p:cNvSpPr>
            <a:spLocks noGrp="1"/>
          </p:cNvSpPr>
          <p:nvPr>
            <p:ph type="title"/>
          </p:nvPr>
        </p:nvSpPr>
        <p:spPr/>
        <p:txBody>
          <a:bodyPr/>
          <a:lstStyle/>
          <a:p>
            <a:pPr algn="ctr"/>
            <a:r>
              <a:rPr lang="en-IN" sz="3200" dirty="0">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id="{82DEE79A-ECEB-6B20-35ED-9A67C770F2D5}"/>
              </a:ext>
            </a:extLst>
          </p:cNvPr>
          <p:cNvSpPr>
            <a:spLocks noGrp="1"/>
          </p:cNvSpPr>
          <p:nvPr>
            <p:ph type="subTitle"/>
          </p:nvPr>
        </p:nvSpPr>
        <p:spPr>
          <a:xfrm>
            <a:off x="674177" y="3293389"/>
            <a:ext cx="7834392" cy="914040"/>
          </a:xfrm>
        </p:spPr>
        <p:txBody>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SOC Dashboard &amp; Threat Detection System successfully demonstrates a lightweight and scalable approach for centralized cybersecurity monitoring, threat detection, and incident investigation. By integrating log collection, real-time analysis, automated alert generation, and interactive visualizations using OpenSearch, the system improves the ability of security analysts to identify and respond to cyber threats efficiently.</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project also incorporates MITRE ATT&amp;CK-based threat mapping and attack simulation techniques to provide better visibility into attack patterns and security events. Through dashboard-driven monitoring and rule-based detection, the platform offers a practical solution for cybersecurity research, learning, and real-world SOC operations.</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Overall, the project highlights the importance of centralized security analytics and demonstrates how modern SOC workflows can be implemented using open-source technologies in a cost-effective and extensible manner.</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519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17</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34816</TotalTime>
  <Words>1029</Words>
  <Application>Microsoft Office PowerPoint</Application>
  <PresentationFormat>On-screen Show (4:3)</PresentationFormat>
  <Paragraphs>153</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PowerPoint Presentation</vt:lpstr>
      <vt:lpstr>PowerPoint Presentation</vt:lpstr>
      <vt:lpstr>Objective</vt:lpstr>
      <vt:lpstr>System Architecture</vt:lpstr>
      <vt:lpstr>Methodology</vt:lpstr>
      <vt:lpstr>Methodology</vt:lpstr>
      <vt:lpstr>Methodology</vt:lpstr>
      <vt:lpstr>Methodology</vt:lpstr>
      <vt:lpstr>Methodology</vt:lpstr>
      <vt:lpstr> Screenshots</vt:lpstr>
      <vt:lpstr> Screenshots</vt:lpstr>
      <vt:lpstr> Screenshots</vt:lpstr>
      <vt:lpstr> Screenshots</vt:lpstr>
      <vt:lpstr> Screenshots</vt:lpstr>
      <vt:lpstr>Future Scope</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Tarnveer Singh Mann</cp:lastModifiedBy>
  <cp:revision>2306</cp:revision>
  <dcterms:created xsi:type="dcterms:W3CDTF">2010-04-09T07:36:15Z</dcterms:created>
  <dcterms:modified xsi:type="dcterms:W3CDTF">2026-05-26T08:55:53Z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